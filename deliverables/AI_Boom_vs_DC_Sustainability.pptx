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 Energy (TWh)</c:v>
                </c:pt>
              </c:strCache>
            </c:strRef>
          </c:tx>
          <c:spPr>
            <a:solidFill>
              <a:srgbClr val="1D4ED8"/>
            </a:solidFill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194</c:v>
                </c:pt>
                <c:pt idx="1">
                  <c:v>196</c:v>
                </c:pt>
                <c:pt idx="2">
                  <c:v>205</c:v>
                </c:pt>
                <c:pt idx="3">
                  <c:v>200</c:v>
                </c:pt>
                <c:pt idx="4">
                  <c:v>218</c:v>
                </c:pt>
                <c:pt idx="5">
                  <c:v>245</c:v>
                </c:pt>
                <c:pt idx="6">
                  <c:v>265</c:v>
                </c:pt>
                <c:pt idx="7">
                  <c:v>310</c:v>
                </c:pt>
                <c:pt idx="8">
                  <c:v>370</c:v>
                </c:pt>
                <c:pt idx="9">
                  <c:v>415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4748B"/>
                    </a:solidFill>
                    <a:latin typeface="Arial"/>
                  </a:rPr>
                  <a:t>TWh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Hyperscale DC Count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Q1 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259</c:v>
                </c:pt>
                <c:pt idx="1">
                  <c:v>330</c:v>
                </c:pt>
                <c:pt idx="2">
                  <c:v>390</c:v>
                </c:pt>
                <c:pt idx="3">
                  <c:v>430</c:v>
                </c:pt>
                <c:pt idx="4">
                  <c:v>504</c:v>
                </c:pt>
                <c:pt idx="5">
                  <c:v>597</c:v>
                </c:pt>
                <c:pt idx="6">
                  <c:v>700</c:v>
                </c:pt>
                <c:pt idx="7">
                  <c:v>800</c:v>
                </c:pt>
                <c:pt idx="8">
                  <c:v>992</c:v>
                </c:pt>
                <c:pt idx="9">
                  <c:v>1136</c:v>
                </c:pt>
                <c:pt idx="10">
                  <c:v>1189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GWh</c:v>
                </c:pt>
              </c:strCache>
            </c:strRef>
          </c:tx>
          <c:spPr>
            <a:solidFill>
              <a:srgbClr val="991B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DeepSeek-R1</c:v>
                  </c:pt>
                  <c:pt idx="1">
                    <c:v>ChatGPT (GPT-4o)</c:v>
                  </c:pt>
                  <c:pt idx="2">
                    <c:v>o3 (OpenAI)</c:v>
                  </c:pt>
                  <c:pt idx="3">
                    <c:v>Google Bard</c:v>
                  </c:pt>
                  <c:pt idx="4">
                    <c:v>Midjourney</c:v>
                  </c:pt>
                  <c:pt idx="5">
                    <c:v>MS Copilot</c:v>
                  </c:pt>
                  <c:pt idx="6">
                    <c:v>GPT-4o mini</c:v>
                  </c:pt>
                  <c:pt idx="7">
                    <c:v>Claude</c:v>
                  </c:pt>
                  <c:pt idx="8">
                    <c:v>Google Search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361.4</c:v>
                </c:pt>
                <c:pt idx="1">
                  <c:v>109.9</c:v>
                </c:pt>
                <c:pt idx="2">
                  <c:v>60.2</c:v>
                </c:pt>
                <c:pt idx="3">
                  <c:v>21.9</c:v>
                </c:pt>
                <c:pt idx="4">
                  <c:v>15.9</c:v>
                </c:pt>
                <c:pt idx="5">
                  <c:v>12.6</c:v>
                </c:pt>
                <c:pt idx="6">
                  <c:v>3.6</c:v>
                </c:pt>
                <c:pt idx="7">
                  <c:v>3.6</c:v>
                </c:pt>
                <c:pt idx="8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Google</c:v>
                </c:pt>
              </c:strCache>
            </c:strRef>
          </c:tx>
          <c:spPr>
            <a:solidFill>
              <a:srgbClr val="4285F4"/>
            </a:solidFill>
            <a:ln w="31750" cap="flat">
              <a:solidFill>
                <a:srgbClr val="4285F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285F4"/>
              </a:solidFill>
              <a:ln w="9525" cap="flat">
                <a:solidFill>
                  <a:srgbClr val="4285F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00A4EF"/>
            </a:solidFill>
            <a:ln w="31750" cap="flat">
              <a:solidFill>
                <a:srgbClr val="00A4E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4EF"/>
              </a:solidFill>
              <a:ln w="9525" cap="flat">
                <a:solidFill>
                  <a:srgbClr val="00A4E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rgbClr val="FF9900"/>
            </a:solidFill>
            <a:ln w="31750" cap="flat">
              <a:solidFill>
                <a:srgbClr val="FF9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0866FF"/>
            </a:solidFill>
            <a:ln w="31750" cap="flat">
              <a:solidFill>
                <a:srgbClr val="0866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866FF"/>
              </a:solidFill>
              <a:ln w="9525" cap="flat">
                <a:solidFill>
                  <a:srgbClr val="0866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 (IEA)</c:v>
                </c:pt>
              </c:strCache>
            </c:strRef>
          </c:tx>
          <c:spPr>
            <a:solidFill>
              <a:srgbClr val="1D4ED8"/>
            </a:solidFill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510</c:v>
                </c:pt>
                <c:pt idx="1">
                  <c:v>581</c:v>
                </c:pt>
                <c:pt idx="2">
                  <c:v>660</c:v>
                </c:pt>
                <c:pt idx="3">
                  <c:v>747</c:v>
                </c:pt>
                <c:pt idx="4">
                  <c:v>842</c:v>
                </c:pt>
                <c:pt idx="5">
                  <c:v>945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Accelerated (Lift-Off)</c:v>
                </c:pt>
              </c:strCache>
            </c:strRef>
          </c:tx>
          <c:spPr>
            <a:solidFill>
              <a:srgbClr val="991B1B"/>
            </a:solidFill>
            <a:ln w="38100" cap="flat">
              <a:solidFill>
                <a:srgbClr val="991B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1B1B"/>
              </a:solidFill>
              <a:ln w="9525" cap="flat">
                <a:solidFill>
                  <a:srgbClr val="991B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560</c:v>
                </c:pt>
                <c:pt idx="1">
                  <c:v>664</c:v>
                </c:pt>
                <c:pt idx="2">
                  <c:v>778</c:v>
                </c:pt>
                <c:pt idx="3">
                  <c:v>905</c:v>
                </c:pt>
                <c:pt idx="4">
                  <c:v>1045</c:v>
                </c:pt>
                <c:pt idx="5">
                  <c:v>1200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4748B"/>
                    </a:solidFill>
                    <a:latin typeface="Arial"/>
                  </a:rPr>
                  <a:t>TWh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IEA NZE Requirement (%)</c:v>
                </c:pt>
              </c:strCache>
            </c:strRef>
          </c:tx>
          <c:spPr>
            <a:solidFill>
              <a:srgbClr val="991B1B"/>
            </a:solidFill>
            <a:ln w="38100" cap="flat">
              <a:solidFill>
                <a:srgbClr val="991B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1B1B"/>
              </a:solidFill>
              <a:ln w="9525" cap="flat">
                <a:solidFill>
                  <a:srgbClr val="991B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60</c:v>
                </c:pt>
                <c:pt idx="2">
                  <c:v>65</c:v>
                </c:pt>
                <c:pt idx="3">
                  <c:v>70</c:v>
                </c:pt>
                <c:pt idx="4">
                  <c:v>75</c:v>
                </c:pt>
                <c:pt idx="5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Actual (%)</c:v>
                </c:pt>
              </c:strCache>
            </c:strRef>
          </c:tx>
          <c:spPr>
            <a:solidFill>
              <a:srgbClr val="065F46"/>
            </a:solidFill>
            <a:ln w="38100" cap="flat">
              <a:solidFill>
                <a:srgbClr val="065F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F46"/>
              </a:solidFill>
              <a:ln w="9525" cap="flat">
                <a:solidFill>
                  <a:srgbClr val="065F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</c:v>
                </c:pt>
                <c:pt idx="1">
                  <c:v>56</c:v>
                </c:pt>
                <c:pt idx="2">
                  <c:v>60</c:v>
                </c:pt>
                <c:pt idx="3">
                  <c:v>64</c:v>
                </c:pt>
                <c:pt idx="4">
                  <c:v>67</c:v>
                </c:pt>
                <c:pt idx="5">
                  <c:v>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gCO₂/kWh</c:v>
                </c:pt>
              </c:strCache>
            </c:strRef>
          </c:tx>
          <c:spPr>
            <a:solidFill>
              <a:srgbClr val="065F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4748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F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2400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2400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2400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2400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Canada West</c:v>
                  </c:pt>
                  <c:pt idx="1">
                    <c:v>Canada East</c:v>
                  </c:pt>
                  <c:pt idx="2">
                    <c:v>Sweden</c:v>
                  </c:pt>
                  <c:pt idx="3">
                    <c:v>France</c:v>
                  </c:pt>
                  <c:pt idx="4">
                    <c:v>Brazil</c:v>
                  </c:pt>
                  <c:pt idx="5">
                    <c:v>US Pacific NW</c:v>
                  </c:pt>
                  <c:pt idx="6">
                    <c:v>UK</c:v>
                  </c:pt>
                  <c:pt idx="7">
                    <c:v>US California</c:v>
                  </c:pt>
                  <c:pt idx="8">
                    <c:v>Ireland</c:v>
                  </c:pt>
                  <c:pt idx="9">
                    <c:v>Netherlands</c:v>
                  </c:pt>
                  <c:pt idx="10">
                    <c:v>US Virginia</c:v>
                  </c:pt>
                  <c:pt idx="11">
                    <c:v>Germany</c:v>
                  </c:pt>
                  <c:pt idx="12">
                    <c:v>Singapore</c:v>
                  </c:pt>
                  <c:pt idx="13">
                    <c:v>Australia</c:v>
                  </c:pt>
                  <c:pt idx="14">
                    <c:v>India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</c:v>
                </c:pt>
                <c:pt idx="1">
                  <c:v>15</c:v>
                </c:pt>
                <c:pt idx="2">
                  <c:v>17</c:v>
                </c:pt>
                <c:pt idx="3">
                  <c:v>45</c:v>
                </c:pt>
                <c:pt idx="4">
                  <c:v>88</c:v>
                </c:pt>
                <c:pt idx="5">
                  <c:v>110</c:v>
                </c:pt>
                <c:pt idx="6">
                  <c:v>148</c:v>
                </c:pt>
                <c:pt idx="7">
                  <c:v>175</c:v>
                </c:pt>
                <c:pt idx="8">
                  <c:v>228</c:v>
                </c:pt>
                <c:pt idx="9">
                  <c:v>268</c:v>
                </c:pt>
                <c:pt idx="10">
                  <c:v>320</c:v>
                </c:pt>
                <c:pt idx="11">
                  <c:v>350</c:v>
                </c:pt>
                <c:pt idx="12">
                  <c:v>360</c:v>
                </c:pt>
                <c:pt idx="13">
                  <c:v>400</c:v>
                </c:pt>
                <c:pt idx="14">
                  <c:v>630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64748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 Energy Needed (TWh)</c:v>
                </c:pt>
              </c:strCache>
            </c:strRef>
          </c:tx>
          <c:spPr>
            <a:solidFill>
              <a:srgbClr val="065F46"/>
            </a:solidFill>
            <a:ln w="38100" cap="flat">
              <a:solidFill>
                <a:srgbClr val="065F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F46"/>
              </a:solidFill>
              <a:ln w="9525" cap="flat">
                <a:solidFill>
                  <a:srgbClr val="065F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280</c:v>
                </c:pt>
                <c:pt idx="1">
                  <c:v>354</c:v>
                </c:pt>
                <c:pt idx="2">
                  <c:v>442</c:v>
                </c:pt>
                <c:pt idx="3">
                  <c:v>532</c:v>
                </c:pt>
                <c:pt idx="4">
                  <c:v>638</c:v>
                </c:pt>
                <c:pt idx="5">
                  <c:v>756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Clean Energy Projected (TWh)</c:v>
                </c:pt>
              </c:strCache>
            </c:strRef>
          </c:tx>
          <c:spPr>
            <a:solidFill>
              <a:srgbClr val="92400E"/>
            </a:solidFill>
            <a:ln w="38100" cap="flat">
              <a:solidFill>
                <a:srgbClr val="92400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2400E"/>
              </a:solidFill>
              <a:ln w="9525" cap="flat">
                <a:solidFill>
                  <a:srgbClr val="92400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265</c:v>
                </c:pt>
                <c:pt idx="1">
                  <c:v>330</c:v>
                </c:pt>
                <c:pt idx="2">
                  <c:v>408</c:v>
                </c:pt>
                <c:pt idx="3">
                  <c:v>486</c:v>
                </c:pt>
                <c:pt idx="4">
                  <c:v>570</c:v>
                </c:pt>
                <c:pt idx="5">
                  <c:v>662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57607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0" y="0"/>
            <a:ext cx="306324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0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1956816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50292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346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Analysis: The AI Infrastructure Surge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Sustainability Imperative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611880"/>
            <a:ext cx="1554480" cy="256032"/>
          </a:xfrm>
          <a:prstGeom prst="rect">
            <a:avLst/>
          </a:prstGeom>
          <a:solidFill>
            <a:srgbClr val="DBEA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611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58568" y="3611880"/>
            <a:ext cx="1554480" cy="256032"/>
          </a:xfrm>
          <a:prstGeom prst="rect">
            <a:avLst/>
          </a:prstGeom>
          <a:solidFill>
            <a:srgbClr val="DBEA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3611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Consulting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22776" y="3611880"/>
            <a:ext cx="1554480" cy="256032"/>
          </a:xfrm>
          <a:prstGeom prst="rect">
            <a:avLst/>
          </a:prstGeom>
          <a:solidFill>
            <a:srgbClr val="DBEA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22776" y="36118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44805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63640" y="5029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7889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950976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72200" y="13716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Energy Growth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1920240"/>
            <a:ext cx="27889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956816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$703B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23774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Gap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2926080"/>
            <a:ext cx="27889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2962656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72200" y="33832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Hyperscalers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 Tier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72200" y="3931920"/>
            <a:ext cx="278892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3968496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70×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72200" y="43891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Arbitrage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EXECUTIVE SUMMARY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boom has created an unprecedented energy surge — and sustainability commitments are failing to keep pace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that demand immediate action from operators, investors, and regulators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91640"/>
            <a:ext cx="2743200" cy="30632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91640"/>
            <a:ext cx="274320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15.7%/yr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energy demand is growing at 15.7% per year — five times the pre-AI rate of 3%. Every $1B in DC capital expenditure drives an additional 33.7 TWh of annual energy demand.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691640"/>
            <a:ext cx="2743200" cy="306324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RECKONING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3337560" y="269748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all hyperscaler company-year observations fall in the Laggard sustainability tier. All four companies converged to a sustainability score of 2/5 by 2024 — despite all claiming 100% renewable energy.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1691640"/>
            <a:ext cx="2743200" cy="306324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691640"/>
            <a:ext cx="2743200" cy="5486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755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72200" y="2011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$703B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6217920" y="2697480"/>
            <a:ext cx="246888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$703B cumulative clean energy investment shortfall exists for 2025–2030. A 70× carbon arbitrage opportunity remains untapped through location-aware workload placement.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acts tell the complete story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scale of the boom to the sustainability reckoning to the decision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850392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27632"/>
            <a:ext cx="54864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7335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 — The Boom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1956816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energy demand, AI investment surge, compute scaling law, hyperscale expansion. The numbers that establish the scale of the problem.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0" y="1828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4–9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432304"/>
            <a:ext cx="54864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7802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 — The Reckoning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761488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hyperscaler paradox, inference energy at scale, sustainability gap analysis, ML clustering of company performance.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26334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10–16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36976"/>
            <a:ext cx="850392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36976"/>
            <a:ext cx="54864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8269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33009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 — The Decision Point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56616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forecast scenarios, renewable energy gap, location carbon arbitrage, investment shortfall, and five strategic recommendations.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3438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17–24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4041648"/>
            <a:ext cx="85039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041648"/>
            <a:ext cx="54864" cy="7132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873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41056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ML Methodology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97280" y="437083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specification, feature importance, clustering validation, PCA analysis, data sources and limitations.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0" y="4242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25–27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 and data center energy demand are growing together — faster than anyone predicted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 — THE BOOM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DC energy demand grew 114% from 2015–2024, with growth accelerating fivefold since the AI inflection point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1: Global data center electricity consumption (TWh) with key event annotations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4864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989320" y="1600200"/>
            <a:ext cx="2834640" cy="9601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1691640"/>
            <a:ext cx="2560320" cy="49926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TWh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080760" y="2099462"/>
            <a:ext cx="265176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baseline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2368296"/>
            <a:ext cx="2651760" cy="172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Pre-AI era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989320" y="2670048"/>
            <a:ext cx="2834640" cy="96012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761488"/>
            <a:ext cx="2560320" cy="49926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TWh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080760" y="3169310"/>
            <a:ext cx="265176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actual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80760" y="3438144"/>
            <a:ext cx="2651760" cy="172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+114% in 9 years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989320" y="3739896"/>
            <a:ext cx="2834640" cy="96012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3831336"/>
            <a:ext cx="2560320" cy="49926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945 TWh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080760" y="4239158"/>
            <a:ext cx="2651760" cy="3072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Base Case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080760" y="4507992"/>
            <a:ext cx="2651760" cy="1728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projection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4773168"/>
            <a:ext cx="64008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" y="4846320"/>
            <a:ext cx="8247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by period: 2015–2019: 3.0%/yr  →  2019–2022: 12.5%/yr  →  2022–2024: 15.7%/yr  |  Growth has accelerated fivefold since the pre-AI era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 — THE BOOM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private investment and DC energy move in lockstep — all 11 AI KPIs correlate above 0.86 with energy demand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2: AI investment vs DC energy (dual axis) and correlation heatmap summary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with DC Energy (TWh)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8745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TWh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1911096"/>
            <a:ext cx="3342681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3545" y="187452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0.988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16255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 Count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0" y="2199132"/>
            <a:ext cx="3322381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3245" y="21625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2450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Energy Share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0" y="2487168"/>
            <a:ext cx="3308848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9712" y="245059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27386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Investment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0" y="2775204"/>
            <a:ext cx="3291931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95" y="27386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302666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Carbon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0" y="3063240"/>
            <a:ext cx="3285165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6029" y="302666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33147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Capex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3351276"/>
            <a:ext cx="3278398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9262" y="33147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3602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Revenue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0" y="3639312"/>
            <a:ext cx="3247949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88813" y="360273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" y="38907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0" y="3927348"/>
            <a:ext cx="3241182" cy="18288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2046" y="38907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" y="4178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Compute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0" y="4215384"/>
            <a:ext cx="3082168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23032" y="41788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44668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0" y="4503420"/>
            <a:ext cx="2933304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74168" y="446684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1572768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1572768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53912" y="1645920"/>
            <a:ext cx="257860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KPI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&gt;0.86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 — the AI boom and DC energy are structurally linked across all measured dimensions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2670048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89320" y="2670048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53912" y="2743200"/>
            <a:ext cx="257860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data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Hyperscaler TWh, Hyperscale Count, AI Energy Share — these drive the regression model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89320" y="3767328"/>
            <a:ext cx="28346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89320" y="3767328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53912" y="3840480"/>
            <a:ext cx="2578608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% 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positively correlated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+0.958 — renewables grow WITH consumption, not instead of it. This is the sustainability paradox in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 — THE BOOM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AI model size multiplies training energy by ×1.82 — a power law that makes building bigger models exponentially costly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3: Training energy vs model parameters (log-log scale) | Power-law slope = 0.861, R² = 0.885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554480"/>
                <a:gridCol w="1554480"/>
                <a:gridCol w="1371600"/>
                <a:gridCol w="73152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Energy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CO₂e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BERT-Large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MWh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tCO₂e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1,287 MWh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552 tCO₂e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 (est.)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57,000 MWh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12,500 tCO₂e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 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Undisclosed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251960"/>
            <a:ext cx="2011680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4343400"/>
            <a:ext cx="1737360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11480" y="4584802"/>
            <a:ext cx="18288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slope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4764024"/>
            <a:ext cx="1828800" cy="115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0.885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423160" y="4251960"/>
            <a:ext cx="2011680" cy="6400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60320" y="4343400"/>
            <a:ext cx="1737360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×1.82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514600" y="4584802"/>
            <a:ext cx="18288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doubling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14600" y="4764024"/>
            <a:ext cx="1828800" cy="115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model parameters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26280" y="4251960"/>
            <a:ext cx="2011680" cy="6400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63440" y="4343400"/>
            <a:ext cx="1737360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617720" y="4584802"/>
            <a:ext cx="182880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zero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17720" y="4764024"/>
            <a:ext cx="1828800" cy="115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disclosure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629400" y="4251960"/>
            <a:ext cx="219456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4343400"/>
            <a:ext cx="1920240" cy="33284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57×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720840" y="4584802"/>
            <a:ext cx="2011680" cy="20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bigger model =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20840" y="4764024"/>
            <a:ext cx="2011680" cy="115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57× more energy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 — THE BOOM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confirms: DC capex is the #1 driver of energy demand — every $1B in investment adds 33.7 TWh annually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4: Regression model results — R² = 0.866 on 2022–2024 test set | Model selected from 4 candidates including XGBoost and Random 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393192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64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(4 models evaluated)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3566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0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20240" y="24505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0.866 — explains 86.6% of variance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3566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95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240" y="28895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 TWh — on 2022–2024 test set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3566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284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Error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332841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— comparable to IEA margin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3566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67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240" y="37673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 ± 3.9 TWh (time-series CV)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356616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20240" y="4206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R² = -8.65 — overfits with n=10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15727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COEFFICIENT FINDINGS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1920240"/>
            <a:ext cx="4389120" cy="71323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0" y="1965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Capex ($B)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0" y="21762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+33.7 TWh per $1B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3774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new hyperscale DCs/yr → +1,265 TWh annual energy pressure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34840" y="2706624"/>
            <a:ext cx="4389120" cy="71323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0" y="27523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 Count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29626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+9.7 TWh per DC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16382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facility adds persistent multi-decade energy load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434840" y="3493008"/>
            <a:ext cx="4389120" cy="71323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0" y="35387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374904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+13.9 (positive)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3950208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Renewables grow WITH consumption — not instead of it (multicollinearity confirmed)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34840" y="4279392"/>
            <a:ext cx="4389120" cy="71323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0" y="43251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Structural Break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45354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–26.5 TWh miss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473659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pre-AI data underestimated 2023 — ChatGPT created a genuine discontinuity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 — THE BOOM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built 877 new hyperscale data centers in nine years — the physical infrastructure of the AI boom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5: Hyperscale DC count 2015–2025 | Pipeline of 770 planned facilities as of Q1 2025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760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600200"/>
            <a:ext cx="2560320" cy="7680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1691640"/>
            <a:ext cx="228600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1,189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355080" y="1999610"/>
            <a:ext cx="237744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 DCs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Q1 2025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2441448"/>
            <a:ext cx="2560320" cy="7680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2532888"/>
            <a:ext cx="228600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355080" y="2840858"/>
            <a:ext cx="237744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in pipeline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55080" y="3055925"/>
            <a:ext cx="237744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builds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263640" y="3282696"/>
            <a:ext cx="2560320" cy="768096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0" y="3374136"/>
            <a:ext cx="228600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355080" y="3682106"/>
            <a:ext cx="237744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share of global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 capacity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63640" y="4123944"/>
            <a:ext cx="256032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0" y="4215384"/>
            <a:ext cx="228600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355080" y="4523354"/>
            <a:ext cx="237744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DCs opening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355080" y="4738421"/>
            <a:ext cx="237744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2025 onward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Reckoning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renewable energy claims — yet emissions rose 50%. The sustainability commitments are structurally broken.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 — THE RECKONING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hyperscalers achieved 100% renewable energy — yet their combined GHG emissions rose 50%+ since 2020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6: Total GHG emissions (MtCO₂e) vs renewable energy % by company | Sources: Company sustainability reports 2019–2024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2029968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2019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71600" y="20116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Mt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241401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514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2024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 Mt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291693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0175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71600" y="30175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" y="341985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5204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71600" y="35204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" y="392277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Sust. Score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71600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87168" y="1600200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87168" y="1600200"/>
            <a:ext cx="2029968" cy="34747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596896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2019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38728" y="20116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 Mt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96896" y="241401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96896" y="2514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2024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38728" y="2514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28.5 Mt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96896" y="291693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96896" y="30175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38728" y="30175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96896" y="341985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96896" y="35204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PUE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38728" y="35204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96896" y="392277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96896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Sust. Score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538728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54296" y="1600200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54296" y="1600200"/>
            <a:ext cx="2029968" cy="34747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45736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64024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2019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705856" y="20116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71.5 Mt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64024" y="241401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4024" y="2514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2024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05856" y="2514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⚠️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64024" y="291693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64024" y="30175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05856" y="30175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64024" y="341985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64024" y="35204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05856" y="35204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64024" y="392277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64024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Sust. Score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705856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821424" y="1600200"/>
            <a:ext cx="2029968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21424" y="1600200"/>
            <a:ext cx="2029968" cy="347472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12864" y="16002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931152" y="20116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2019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872984" y="20116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Mt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931152" y="241401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31152" y="25146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2024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872984" y="2514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⚠️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31152" y="291693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152" y="301752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872984" y="301752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931152" y="341985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31152" y="35204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PUE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872984" y="35204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931152" y="3922776"/>
            <a:ext cx="1810512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31152" y="40233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Sust. Score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872984" y="4023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20040" y="4773168"/>
            <a:ext cx="64008" cy="29260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84632" y="4846320"/>
            <a:ext cx="8247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PARADOX: 100% renewable energy claims (market-based) + 50%+ emissions growth (location-based). Annual certificate matching ≠ 24/7 carbon-free energy. This is the credibility gap at the heart of corporate sustainability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 — THE RECKONING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hyperscaler is missing its own sustainability pledges — the gap widened sharply after the AI capex surge began in 2022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7: Pledge vs actual gap (percentage points) | Positive = underdelivering vs own targets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0200"/>
          <a:ext cx="8503920" cy="22860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731520"/>
                <a:gridCol w="1005840"/>
                <a:gridCol w="1005840"/>
                <a:gridCol w="100584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Pledged/yr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NZE goal from website Jul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CSO: 'the moon has gotten further away'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report not published at analysis 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+145% indirect emissions 2020–2023 (ITU)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9776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977640"/>
            <a:ext cx="64008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4050792"/>
            <a:ext cx="24871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widened post-2022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2022 gaps were modest. The AI capex surge overwhelmed sustainability programmes.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0" y="39776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3977640"/>
            <a:ext cx="64008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4992" y="4050792"/>
            <a:ext cx="24871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revision ≠ improvement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Microsoft softened targets in 2024. Narrowing gaps reflect goalpost movement, not real progress.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39776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0760" y="3977640"/>
            <a:ext cx="64008" cy="7772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45352" y="4050792"/>
            <a:ext cx="248716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Systemic, not company-specific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companies show the same pattern simultaneously — proving structural not managerial failure.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 — THE RECKONING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at scale is the hidden sustainability crisis — inference energy is 90% of AI lifecycle energy yet entirely unregulated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8: Annual inference energy by service (GWh) | Energy per query comparison vs Google Search baseline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080760" y="1600200"/>
            <a:ext cx="274320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17920" y="1691640"/>
            <a:ext cx="246888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 GWh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172200" y="1999610"/>
            <a:ext cx="256032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use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72200" y="2214677"/>
            <a:ext cx="256032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energy-intensive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080760" y="2441448"/>
            <a:ext cx="2743200" cy="7680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2532888"/>
            <a:ext cx="246888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122×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172200" y="2840858"/>
            <a:ext cx="256032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72200" y="3055925"/>
            <a:ext cx="256032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ratio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80760" y="3282696"/>
            <a:ext cx="274320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217920" y="3374136"/>
            <a:ext cx="246888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Wh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172200" y="3682106"/>
            <a:ext cx="256032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query: reasoning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(R1, o3)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72200" y="3897173"/>
            <a:ext cx="256032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0.003Wh for Search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080760" y="4123944"/>
            <a:ext cx="2743200" cy="7680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17920" y="4215384"/>
            <a:ext cx="246888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172200" y="4523354"/>
            <a:ext cx="256032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lifecycle energy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inference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72200" y="4738421"/>
            <a:ext cx="256032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training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 — THE RECKONING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clustering confirms: 67% of hyperscaler company-year observations fall in the Laggard tier — no company leads on all dimensions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9: K-Means clustering (k=3, silhouette = 0.456) across 5 sustainability dimensions | 2019–2024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926080" cy="32004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642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VALIDATION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2880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0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2450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0.456 — validated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752344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95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828800" y="288950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28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828800" y="33284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630168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673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28800" y="376732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(4 companies × 6yr)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06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28800" y="4206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74.9% preserved in 2D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29000" y="15727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by Company &amp; Year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17922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13248" y="17922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63056" y="17922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12864" y="17922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62672" y="17922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179222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29000" y="2011680"/>
            <a:ext cx="1097280" cy="475488"/>
          </a:xfrm>
          <a:prstGeom prst="rect">
            <a:avLst/>
          </a:prstGeom>
          <a:solidFill>
            <a:srgbClr val="4285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6432" y="2011680"/>
            <a:ext cx="1042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011680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01168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13248" y="2011680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201168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63056" y="2011680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201168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12864" y="2011680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12864" y="201168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662672" y="2011680"/>
            <a:ext cx="713232" cy="47548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62672" y="201168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412480" y="2011680"/>
            <a:ext cx="713232" cy="47548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2011680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429000" y="2532888"/>
            <a:ext cx="1097280" cy="475488"/>
          </a:xfrm>
          <a:prstGeom prst="rect">
            <a:avLst/>
          </a:prstGeom>
          <a:solidFill>
            <a:srgbClr val="00A4E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56432" y="2532888"/>
            <a:ext cx="1042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532888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25328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13248" y="2532888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13248" y="25328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63056" y="2532888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63056" y="25328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12864" y="2532888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2864" y="25328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662672" y="2532888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62672" y="25328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412480" y="2532888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2532888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29000" y="3054096"/>
            <a:ext cx="1097280" cy="475488"/>
          </a:xfrm>
          <a:prstGeom prst="rect">
            <a:avLst/>
          </a:prstGeom>
          <a:solidFill>
            <a:srgbClr val="FF990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56432" y="3054096"/>
            <a:ext cx="1042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663440" y="3054096"/>
            <a:ext cx="713232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63440" y="30540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413248" y="3054096"/>
            <a:ext cx="713232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13248" y="30540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163056" y="3054096"/>
            <a:ext cx="713232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63056" y="30540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912864" y="3054096"/>
            <a:ext cx="713232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12864" y="30540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662672" y="3054096"/>
            <a:ext cx="713232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62672" y="30540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8412480" y="3054096"/>
            <a:ext cx="713232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12480" y="3054096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429000" y="3575304"/>
            <a:ext cx="1097280" cy="475488"/>
          </a:xfrm>
          <a:prstGeom prst="rect">
            <a:avLst/>
          </a:prstGeom>
          <a:solidFill>
            <a:srgbClr val="086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56432" y="3575304"/>
            <a:ext cx="1042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3575304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357530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413248" y="3575304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13248" y="357530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63056" y="3575304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63056" y="357530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912864" y="3575304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12864" y="357530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662672" y="3575304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62672" y="357530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412480" y="3575304"/>
            <a:ext cx="713232" cy="4754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412480" y="3575304"/>
            <a:ext cx="713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663440" y="4187952"/>
            <a:ext cx="1234440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41879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035040" y="4187952"/>
            <a:ext cx="1234440" cy="2286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035040" y="41879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7406640" y="4187952"/>
            <a:ext cx="1234440" cy="2286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06640" y="418795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Laggard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 — THE RECKONING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2024, all four companies converged to 2/5 sustainability score — the AI capex surge erased years of differentiated effort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10: Sustainability score trajectory 2019–2024 | Score 1=off track, 5=on track | Source: Company reports, Carbone4, ITU/WBA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600200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72200" y="1600200"/>
            <a:ext cx="6400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1673352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at 2/5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landed at the same score in 2024 regardless of 2019 starting point or strategy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2395728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395728"/>
            <a:ext cx="6400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6792" y="2468880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Systemic, not managerial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companies, four different strategies — all reaching the same floor simultaneously. This is a structural problem.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3191256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3191256"/>
            <a:ext cx="6400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6792" y="3264408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capex effect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dropped from 5/5 to 2/5. The AI infrastructure buildout overwhelmed its sustainability programme.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72200" y="3986784"/>
            <a:ext cx="26517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3986784"/>
            <a:ext cx="64008" cy="7132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4059936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implication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corporate action cannot solve a systemic problem. The convergence is the argument for regulatory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 — THE RECKONING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 excels across all five sustainability dimensions — four distinct archetypes emerge from the ML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11: Normalised sustainability profiles (2024) | 0 = worst, 1 = best on each dimension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4160520" cy="162763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64008" cy="16276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459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19019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Leader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21671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Emissions efficiency (1.0), PUE (1.0), Scope 3 management (1.0)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" y="25786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Clean energy commitment (0.0) — lowest PPA per capex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160520" cy="162763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572768"/>
            <a:ext cx="64008" cy="162763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6459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73752" y="190195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Commitment Leader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73752" y="21671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Clean energy commitment (1.0) — highest PPA per capex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73752" y="25786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Pledge credibility (0.0), Scope 3 management (0.0) — 97% Scope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355848"/>
            <a:ext cx="4160520" cy="162763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55848"/>
            <a:ext cx="64008" cy="16276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429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" y="368503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 Delivery Leader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39502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Pledge credibility (1.0) — closest to own targets. Scope 3 (0.6)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" y="43616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Emissions efficiency (0.0), infrastructure efficiency (0.0)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355848"/>
            <a:ext cx="4160520" cy="162763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355848"/>
            <a:ext cx="64008" cy="1627632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3429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73752" y="368503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Efficiency Leader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73752" y="395020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Infrastructure efficiency (1.0), emissions efficiency (0.77)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73752" y="436168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Scope 3 management (0.1) — worst supply chain accountability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4754880"/>
            <a:ext cx="8503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754880"/>
            <a:ext cx="64008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" y="4828032"/>
            <a:ext cx="8247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company scores above 0.5 on more than 3 of 5 dimensions simultaneously. The industry collectively has the knowledge to build one genuinely sustainable hyperscaler — but no individual company has assembled all the pieces.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Point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between now and 2027 will lock in the energy trajectory for the rest of the decade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III — THE DECISION POINT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energy demand could reach 945–1,200 TWh by 2030 — the gap between scenarios equals the UK's entire electricity consumption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12: Base vs Accelerated forecast (2025–2030) | Polynomial &amp; exponential models calibrated to IEA Base + Lift-Off scenarios | Model validated within &lt;15 TWh of IEA published figures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600200"/>
            <a:ext cx="2651760" cy="7680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691640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945 TWh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63640" y="1999610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2030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63640" y="2214677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confirmed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172200" y="2441448"/>
            <a:ext cx="265176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2532888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TWh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63640" y="2840858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2030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63640" y="3055925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Lift-Off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72200" y="3282696"/>
            <a:ext cx="2651760" cy="7680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3374136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TWh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63640" y="3682106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by 2030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63640" y="3897173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UK electricity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172200" y="4123944"/>
            <a:ext cx="2651760" cy="768096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09360" y="4215384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R²=0.9935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263640" y="4523354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historical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63640" y="4738421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growth model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III — THE DECISION POINT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procurement will fall 12 percentage points short of IEA net zero requirements by 2030 — and the real gap is likely double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13: Renewable % projected vs IEA NZE requirement | Gap = 113 TWh unmatched by 2030 | Source: IEA Energy &amp; AI 2025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600200"/>
            <a:ext cx="2651760" cy="7680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691640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63640" y="1999610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renewable 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63640" y="2214677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trajectory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172200" y="2441448"/>
            <a:ext cx="265176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2532888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63640" y="2840858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 NZE requirement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63640" y="3055925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net zero path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72200" y="3282696"/>
            <a:ext cx="265176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3374136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12%pt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63640" y="3682106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gap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2030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63640" y="3897173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113 TWh unmatched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172200" y="4123944"/>
            <a:ext cx="2651760" cy="7680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09360" y="4215384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263640" y="4523354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gap is larger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≠ CFE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63640" y="4738421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view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III — THE DECISION POINT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70× carbon arbitrage opportunity exists today — DC location is the single highest-leverage sustainability decision available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14: Grid carbon intensity by region (gCO₂/kWh, 2024) | Running 1 TWh in Canada West vs India saves 621 kt CO₂e = 135,000 cars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943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46520" y="1600200"/>
            <a:ext cx="2377440" cy="768096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0" y="1691640"/>
            <a:ext cx="210312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70×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537960" y="1999610"/>
            <a:ext cx="219456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West vs India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ratio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37960" y="2214677"/>
            <a:ext cx="219456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vs 630 gCO₂/kWh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446520" y="2441448"/>
            <a:ext cx="2377440" cy="768096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2532888"/>
            <a:ext cx="210312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 kt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537960" y="2840858"/>
            <a:ext cx="219456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CO₂e saved per TWh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best vs worst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37960" y="3055925"/>
            <a:ext cx="219456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135,000 car-equiv.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446520" y="3282696"/>
            <a:ext cx="2377440" cy="7680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83680" y="3374136"/>
            <a:ext cx="210312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537960" y="3682106"/>
            <a:ext cx="219456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Virginia gCO₂/kWh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37960" y="3897173"/>
            <a:ext cx="219456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DC hub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446520" y="4123944"/>
            <a:ext cx="2377440" cy="7680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83680" y="4215384"/>
            <a:ext cx="210312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36.8kt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537960" y="4523354"/>
            <a:ext cx="219456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CO₂e saving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run from France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37960" y="4738421"/>
            <a:ext cx="219456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cars/yr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III — THE DECISION POINT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$703B clean energy investment shortfall must be closed by 2030 — at $117B per year, three times the annual rate of the US IRA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15: Cumulative clean energy gap 2025–2030 | DC capex vs clean energy contracted | Source: IEA, JLL, company reports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60020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172200" y="1600200"/>
            <a:ext cx="265176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1691640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$703B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63640" y="1999610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clean energy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2025–2030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63640" y="2214677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6-year shortfall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172200" y="2441448"/>
            <a:ext cx="2651760" cy="76809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2532888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$117B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263640" y="2840858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annually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the gap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63640" y="3055925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US IRA rate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72200" y="3282696"/>
            <a:ext cx="2651760" cy="768096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09360" y="3374136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$38B→$236B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263640" y="3682106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grows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to 2030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63640" y="3897173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yearly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172200" y="4123944"/>
            <a:ext cx="2651760" cy="768096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309360" y="4215384"/>
            <a:ext cx="2377440" cy="39941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 TWh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263640" y="4523354"/>
            <a:ext cx="2468880" cy="245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clean energy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gap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63640" y="4738421"/>
            <a:ext cx="2468880" cy="138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Netherlands + Belgium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III — THE DECISION POINT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scorecard reveals a universal paradox: 100% renewable claims yet 2/5 sustainability performance across all companies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16: Cross-dimensional sustainability scorecard (2024) | RAG status per metric | All companies declining since 2020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8503920" cy="22860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914400"/>
                <a:gridCol w="914400"/>
                <a:gridCol w="640080"/>
                <a:gridCol w="822960"/>
                <a:gridCol w="914400"/>
                <a:gridCol w="822960"/>
                <a:gridCol w="64008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 (Mt)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PPA (GW)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Pledge Gap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Leader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Laggard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 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24.5%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Follower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Laggard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 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 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950208"/>
            <a:ext cx="8503920" cy="822960"/>
          </a:xfrm>
          <a:prstGeom prst="rect">
            <a:avLst/>
          </a:prstGeom>
          <a:solidFill>
            <a:srgbClr val="FEE2E2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3950208"/>
            <a:ext cx="64008" cy="8229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PARADOX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42245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in the green column for Renewable % (100%) and the red column for overall Sustainability Score (2/5). This is not a data error — it is the defining finding of this analysis. Annual certificate matching has become a mechanism for obscuring rather than measuring real sustainability progress.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ACT III — THE DECISION POINT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recommendations — each traceable to a specific analytical finding, targeted at a clear owner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4864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17: Strategic recommendations framework | Impact vs feasibility matrix | All recommendations quantified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020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600200"/>
            <a:ext cx="269748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91640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187452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24/7 CFE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185416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Regulators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9768" y="2404872"/>
            <a:ext cx="24780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478024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real clean energy gap — 20–40%pt below certificate claims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600200"/>
            <a:ext cx="2697480" cy="5486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691640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55848" y="187452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Carbon-Aware DC Siting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185416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DC Operators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55848" y="2404872"/>
            <a:ext cx="24780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478024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70× arbitrage — 621 kt CO₂e saved per TWh in best vs worst location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1600200"/>
            <a:ext cx="269748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600200"/>
            <a:ext cx="269748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691640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81928" y="187452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Energy Disclosure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81928" y="2185416"/>
            <a:ext cx="2478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AI Companies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81928" y="2404872"/>
            <a:ext cx="247802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2478024"/>
            <a:ext cx="24780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emissions reduction through model selection — if data is available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3337560"/>
            <a:ext cx="39319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7240" y="3337560"/>
            <a:ext cx="39319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342900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86968" y="3611880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$703B Gap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392277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Investors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86968" y="4142232"/>
            <a:ext cx="371246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" y="4215384"/>
            <a:ext cx="3712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200+ MtCO₂e avoidable emissions by 2030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703320" y="3337560"/>
            <a:ext cx="39319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03320" y="3337560"/>
            <a:ext cx="3931920" cy="5486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13048" y="342900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05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13048" y="3611880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Disclosure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13048" y="392277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Boards/Regulators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13048" y="4142232"/>
            <a:ext cx="371246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13048" y="4215384"/>
            <a:ext cx="3712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true AI carbon footprint — 3–5× larger than Scope 1+2 alone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unambiguous.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400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67335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boom is driving DC energy demand at 15.7%/yr — five times the pre-AI growth rate. Every $1B in DC capex adds 33.7 TWh of annual demand. The physical infrastructure of AI is being built faster than any sustainability framework can absorb.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64008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77063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sustainability commitments are structurally failing. 67% Laggard clustering, universal 2/5 score convergence, and a 50%+ emissions rise despite 100% renewable claims prove that voluntary programmes cannot solve a systemic problem.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86791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decisions made in the next three years lock in the 2030 trajectory. A $703B clean energy gap must be closed. A 70× carbon arbitrage opportunity exists today. Five quantified recommendations define exactly what must change and who must act.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Boom vs Data Center Sustainability  |  March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APPENDIX — ML METHODOLOGY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74336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Boom vs Data Center Sustainability  |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methodology: model selection, validation, and feature engineering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11480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54864" cy="10058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Regression Model Selection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6344" y="1883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trained: Linear Regression, Ridge, Random Forest, XGBoost. Linear Regression selected with R²=0.866, RMSE=15.8 TWh. Tree models failed (XGBoost R²=-8.65) due to n=10 — consistent with established literature on small-sample ML.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11480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Time-Series Cross Validation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09744" y="1883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(3 folds) preserving chronological order. CV RMSE = 18.4 ± 3.9 TWh — close to test RMSE confirming no overfitting. Train: 2015–2021. Test: 2022–2024 (hardest possible — structural break period).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715768"/>
            <a:ext cx="411480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715768"/>
            <a:ext cx="54864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" y="2770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K-Means Clustering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" y="3026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validated by silhouette score (peak 0.456 at k=3) and elbow method (inertia drop 2→3 vs 3→4). 5 features: emissions intensity, pledge gap, Scope 3 %, PPA/capex ratio, PUE. StandardScaler normalisation.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715768"/>
            <a:ext cx="411480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715768"/>
            <a:ext cx="54864" cy="100584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770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PCA Dimensionality Reduction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9744" y="3026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components preserve 74.9% of variance. PC1 (54.6%): operational efficiency axis (PUE + emissions intensity). PC2 (20.2%): accountability axis (Scope 3 % + PPA/capex). Cluster separation visually confirmed in 2D projection.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411480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858768"/>
            <a:ext cx="54864" cy="100584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3913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Forecast Models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growth curves fitted: Linear (R²=0.851), Polynomial degree-2 (R²=0.994), Exponential (R²=0.925). Polynomial selected as best fit. Calibrated to IEA Base (945 TWh 2030) and Lift-Off (1,200 TWh) anchors. Model within 15 TWh of IEA at every forecast year.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858768"/>
            <a:ext cx="4114800" cy="1005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858768"/>
            <a:ext cx="54864" cy="10058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913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Data Sources &amp; Limitations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9744" y="416966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sources: IEA Energy &amp; AI 2025, Stanford HAI AI Index 2025, Uptime Institute 2024, company sustainability reports, Epoch AI, arXiv. Limitations: 10 annual macro observations; Amazon 2024 GHG undisclosed; 68% of AI models have no training energy disclosure.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Boom vs Data Center Sustainability</dc:title>
  <dc:subject>AI Infrastructure &amp; Sustainability</dc:subject>
  <dc:creator>Data-Driven Analysis</dc:creator>
  <cp:lastModifiedBy>Data-Driven Analysis</cp:lastModifiedBy>
  <cp:revision>1</cp:revision>
  <dcterms:created xsi:type="dcterms:W3CDTF">2026-03-21T14:39:03Z</dcterms:created>
  <dcterms:modified xsi:type="dcterms:W3CDTF">2026-03-21T14:39:03Z</dcterms:modified>
</cp:coreProperties>
</file>