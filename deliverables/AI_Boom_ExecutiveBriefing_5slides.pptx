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BOOM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powering the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but at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cost?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731520" y="406908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AI infrastructure growth vs global sustainability commitments.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Business Consulting · 2025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822960"/>
            <a:ext cx="2148840" cy="1600200"/>
          </a:xfrm>
          <a:prstGeom prst="rect">
            <a:avLst/>
          </a:prstGeom>
          <a:solidFill>
            <a:srgbClr val="162D40"/>
          </a:solidFill>
          <a:ln w="12700">
            <a:solidFill>
              <a:srgbClr val="162D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0" y="822960"/>
            <a:ext cx="21488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89611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58952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Energy Growth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784080" y="822960"/>
            <a:ext cx="2148840" cy="1600200"/>
          </a:xfrm>
          <a:prstGeom prst="rect">
            <a:avLst/>
          </a:prstGeom>
          <a:solidFill>
            <a:srgbClr val="2A1F0E"/>
          </a:solidFill>
          <a:ln w="12700">
            <a:solidFill>
              <a:srgbClr val="2A1F0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784080" y="822960"/>
            <a:ext cx="21488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0" y="89611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15.7%/yr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87552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Now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3%/yr)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98080" y="2651760"/>
            <a:ext cx="2148840" cy="1600200"/>
          </a:xfrm>
          <a:prstGeom prst="rect">
            <a:avLst/>
          </a:prstGeom>
          <a:solidFill>
            <a:srgbClr val="2A1010"/>
          </a:solidFill>
          <a:ln w="12700">
            <a:solidFill>
              <a:srgbClr val="2A10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2651760"/>
            <a:ext cx="21488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72491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$703B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589520" y="3520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Gap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784080" y="2651760"/>
            <a:ext cx="2148840" cy="1600200"/>
          </a:xfrm>
          <a:prstGeom prst="rect">
            <a:avLst/>
          </a:prstGeom>
          <a:solidFill>
            <a:srgbClr val="1A1030"/>
          </a:solidFill>
          <a:ln w="12700">
            <a:solidFill>
              <a:srgbClr val="1A103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84080" y="2651760"/>
            <a:ext cx="21488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2724912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875520" y="3520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 Tier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5074920"/>
            <a:ext cx="1828800" cy="292608"/>
          </a:xfrm>
          <a:prstGeom prst="rect">
            <a:avLst/>
          </a:prstGeom>
          <a:solidFill>
            <a:srgbClr val="162D40"/>
          </a:solidFill>
          <a:ln w="12700">
            <a:solidFill>
              <a:srgbClr val="162D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074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51760" y="5074920"/>
            <a:ext cx="1828800" cy="292608"/>
          </a:xfrm>
          <a:prstGeom prst="rect">
            <a:avLst/>
          </a:prstGeom>
          <a:solidFill>
            <a:srgbClr val="162D40"/>
          </a:solidFill>
          <a:ln w="12700">
            <a:solidFill>
              <a:srgbClr val="162D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5074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Models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5074920"/>
            <a:ext cx="1828800" cy="292608"/>
          </a:xfrm>
          <a:prstGeom prst="rect">
            <a:avLst/>
          </a:prstGeom>
          <a:solidFill>
            <a:srgbClr val="162D40"/>
          </a:solidFill>
          <a:ln w="12700">
            <a:solidFill>
              <a:srgbClr val="162D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5074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Data Sources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92240" y="5074920"/>
            <a:ext cx="1828800" cy="292608"/>
          </a:xfrm>
          <a:prstGeom prst="rect">
            <a:avLst/>
          </a:prstGeom>
          <a:solidFill>
            <a:srgbClr val="162D40"/>
          </a:solidFill>
          <a:ln w="12700">
            <a:solidFill>
              <a:srgbClr val="162D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074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Data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412480" y="5074920"/>
            <a:ext cx="1828800" cy="292608"/>
          </a:xfrm>
          <a:prstGeom prst="rect">
            <a:avLst/>
          </a:prstGeom>
          <a:solidFill>
            <a:srgbClr val="162D40"/>
          </a:solidFill>
          <a:ln w="12700">
            <a:solidFill>
              <a:srgbClr val="162D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5074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Recommendations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38560" y="66019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vs Data Center Sustainability  ·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54480" y="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Boom: AI Infrastructure Is Growing Faster Than Any Sustainability Framework Can Absorb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energy grew 114% in 9 years — and it is still accelerating.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Rate by Period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83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3.0%/yr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17520" y="1856232"/>
            <a:ext cx="34747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856232"/>
            <a:ext cx="41696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0391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Pre-AI era — steady cloud migration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12.5%/yr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2724912"/>
            <a:ext cx="34747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724912"/>
            <a:ext cx="1737360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9077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cloud surge — digital acceleration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3520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15.7%/yr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17520" y="3593592"/>
            <a:ext cx="34747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3593592"/>
            <a:ext cx="2189074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776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era — AI infrastructure race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4315968"/>
            <a:ext cx="59436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074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Growth rate has QUINTUPLED since the pre-AI era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Proof Points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1783080"/>
            <a:ext cx="502920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783080"/>
            <a:ext cx="54864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183794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0.866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67728" y="213055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regression explains 86.6% of DC energy variance using AI KPIs alone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743200"/>
            <a:ext cx="5029200" cy="80467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2743200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279806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+33.7 TWh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67728" y="309067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annual energy per $1B of DC capital expenditure (regression coefficient)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3703320"/>
            <a:ext cx="5029200" cy="8046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3703320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67728" y="37581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←Break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67728" y="405079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underestimated 2023 by 26.5 TWh — ChatGPT created a structural discontinuity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828032"/>
            <a:ext cx="11430000" cy="640080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" y="48280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new hyperscale DCs open every year  ×  9.7 TWh per DC  =  1,265 TWh of additional annual energy pressure — more than the UK's entire electricity consumption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vs Data Center Sustainability  ·  March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54480" y="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Reckoning: 100% Renewable Energy Claims — Yet Emissions Rose 50%+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 at the heart of AI sustainability.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394960" cy="228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394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98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CLAIM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Google: 100% Renewable Energy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Microsoft: 100% Renewable Energy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Amazon: 100% Renewable Energy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Meta: 100% Renewable Energy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325880"/>
            <a:ext cx="5394960" cy="228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325880"/>
            <a:ext cx="5394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3898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Google GHG: +60% since 2019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72200" y="2148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Microsoft GHG: +107% since 2019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72200" y="2560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Indirect emissions: +150% 2020–23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9718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All 4 converged to 2/5 score by 2024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42432" y="2011680"/>
            <a:ext cx="493776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20116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749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Clustering Results (K-Means, k=3, Silhouette=0.456)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3657600" cy="1051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96512"/>
            <a:ext cx="36576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4223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554480" y="4142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4617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(2019–22), Microsoft (all), Meta (all)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97680" y="4096512"/>
            <a:ext cx="365760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4096512"/>
            <a:ext cx="3657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414223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486400" y="4142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34840" y="4617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(all years) — best pledge credibility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29600" y="4096512"/>
            <a:ext cx="365760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0" y="4096512"/>
            <a:ext cx="36576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14223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9418320" y="4142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66760" y="4617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only in 2023–24 (operational efficiency)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5285232"/>
            <a:ext cx="11430000" cy="56692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528523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CONVERGENCE FINDING: All 4 companies scored 2/5 by 2024 regardless of strategy or pledges. This is systemic failure — not company failure. Individual corporate action cannot solve a structural problem.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vs Data Center Sustainability  ·  March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Point: Decisions Made in the Next 3 Years Lock In the 2030 Trajectory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 depends on decisions being made right now.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ENERGY SCENARIOS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691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945 TWh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50292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93392"/>
            <a:ext cx="3973068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31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Base Case · Polynomial model R²=0.994 · +14.8%/yr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670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TWh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50292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71800"/>
            <a:ext cx="502920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101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Lift-Off · Reasoning models dominant · +19.4%/yr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502920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5760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65760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TWh gap between scenarios  =  entire UK electricity supply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135331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UNTAPPED OPPORTUNITIES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1664208"/>
            <a:ext cx="594360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1664208"/>
            <a:ext cx="54864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17190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70×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053328" y="204825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intensity difference between cleanest (Canada West, 9 gCO₂/kWh) and dirtiest (India, 630 gCO₂/kWh) DC regions. Location selection = the biggest lever.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2624328"/>
            <a:ext cx="5943600" cy="8046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2624328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67919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90%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53328" y="300837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lifecycle energy comes from inference — not training. Yet inference has zero regulatory oversight and almost no company disclosure.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3584448"/>
            <a:ext cx="594360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3584448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363931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$703B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53328" y="396849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clean energy investment shortfall 2025–2030. At $117B/year, closing it requires 3× the annual rate of the US Inflation Reduction Act.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480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Gap at 2030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7731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(NZE)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0" y="4828032"/>
            <a:ext cx="265176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4773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50474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0" y="5102352"/>
            <a:ext cx="2299076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504748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5349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percentage point gap  ≈  113 TWh unmatched by 2030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vs Data Center Sustainability  ·  March 2026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PROJECT DELIVERABLES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Data-Driven Recommendations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" y="11338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24/7 Carbon-Free Energy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78992" y="13898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Regulators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8992" y="15727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20–40%pt hidden gap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75104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029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20299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DC Location Policy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DC Operators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78992" y="24688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70× arbitrage — 621 kt CO₂e per TWh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871216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71216"/>
            <a:ext cx="54864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9260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" y="29260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Inference Energy Disclosure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78992" y="3182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AI Companies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" y="33649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emission reduction via model choice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767328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67328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8221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" y="38221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$703B Clean Energy Gap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" y="40782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Investors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8992" y="426110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200+ MtCO₂e by 2030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663440"/>
            <a:ext cx="548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83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" y="47183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Scope 3 AI Disclosure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78992" y="49743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Boards / Regulators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8992" y="51572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footprint 3–5× larger than reported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00800" y="685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0" y="1078992"/>
            <a:ext cx="539496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37960" y="1280160"/>
            <a:ext cx="347472" cy="347472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1280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22592" y="1133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Curated Datasets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22592" y="14264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workbooks with DC energy, AI market, hyperscaler sustainability, inference energy, grid carbon intensity — all source-cited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1993392"/>
            <a:ext cx="5394960" cy="768096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37960" y="2194560"/>
            <a:ext cx="347472" cy="347472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194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22592" y="20482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ML Notebooks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022592" y="23408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(R²=0.866), time-series forecast, K-Means clustering, PCA, EDA with 21 interactive Plotly charts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00800" y="2907792"/>
            <a:ext cx="5394960" cy="768096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37960" y="3108960"/>
            <a:ext cx="347472" cy="347472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108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22592" y="29626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Calculator Dashboard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022592" y="32552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inference emissions calculator — energy, carbon, water, cost per query for 16 AI models across 8 grid regions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00800" y="3822192"/>
            <a:ext cx="5394960" cy="7680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537960" y="4023360"/>
            <a:ext cx="347472" cy="347472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4023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22592" y="38770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Written Report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022592" y="41696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35-page structured report: context, methodology, three-act analysis, five recommendations, technical appendix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00800" y="4736592"/>
            <a:ext cx="5394960" cy="768096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537960" y="4937760"/>
            <a:ext cx="347472" cy="347472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37960" y="4937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22592" y="47914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25-Slide Deck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022592" y="50840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consulting presentation covering all three acts — slides usable in client presentations and portfolio reviews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5806440"/>
            <a:ext cx="11430000" cy="658368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65760" y="5806440"/>
            <a:ext cx="27432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" y="5806440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· 25-slide deck · Interactive calculator · 6 ML notebooks · All datasets available on request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vs Data Center Sustainability  ·  March 2026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0" y="6601968"/>
            <a:ext cx="1179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Boom vs DC Sustainability — Executive Briefing</dc:title>
  <dc:subject>PptxGenJS Presentation</dc:subject>
  <dc:creator>Data-Driven Analysis</dc:creator>
  <cp:lastModifiedBy>Data-Driven Analysis</cp:lastModifiedBy>
  <cp:revision>1</cp:revision>
  <dcterms:created xsi:type="dcterms:W3CDTF">2026-03-21T15:55:22Z</dcterms:created>
  <dcterms:modified xsi:type="dcterms:W3CDTF">2026-03-21T15:55:22Z</dcterms:modified>
</cp:coreProperties>
</file>